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265" r:id="rId5"/>
    <p:sldId id="258" r:id="rId6"/>
    <p:sldId id="1052" r:id="rId7"/>
    <p:sldId id="1051" r:id="rId8"/>
    <p:sldId id="261" r:id="rId9"/>
    <p:sldId id="264" r:id="rId10"/>
    <p:sldId id="260" r:id="rId11"/>
    <p:sldId id="266" r:id="rId12"/>
    <p:sldId id="104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C6A"/>
    <a:srgbClr val="320175"/>
    <a:srgbClr val="41258C"/>
    <a:srgbClr val="010D1D"/>
    <a:srgbClr val="080C39"/>
    <a:srgbClr val="18297E"/>
    <a:srgbClr val="152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FFD9-21D6-68F3-CAD3-A0C9670B6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F6071-7C19-5B6F-B1B4-5C0909A26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308F-2026-22DD-E4ED-4379E781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AE21B-B88E-DD9B-593C-9F1188AE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2B35A-CCC0-3373-9466-D84E04D2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3ECE-1355-5E23-C56D-3856344C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423D2-8DAA-F2DF-DA74-4E4F2A89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C7ED3-8C15-B68C-12E0-620107FC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88BC-434B-9F36-820E-098AD4F5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62FAE-AC32-7D09-A618-1DD814B5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0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C8C0-F0DA-4FB0-EBEE-53CFAA25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F44B7-80BB-84B2-7CF5-335E0525C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70E6-1A19-A019-4CFD-BFD40EEA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96179-0BD8-FC50-4FCB-C2EC6E44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ED6AC-F435-CF4F-16D9-B0CDBCF3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5F75-6FA8-2203-BDAF-A98E6A43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2550-3665-C389-0F2F-D62838C43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6BC83-C1FD-0BF5-5F73-F362E02D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F653F-ED34-E8DD-E389-B03F56C5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66D84-6D4D-BD33-A4B7-39E1223F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6D329-0587-73F9-FA3F-26328583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836C-64F1-C9B0-9FFD-D2B87F8D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A1F1F-F8C9-016F-3894-DBA8EC20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0D274-369D-D944-784F-E86FEB359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F1805-12CE-2F40-C853-A270037CD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D1F4D-ACE0-D3B8-4A3F-EF3235F5C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08A7F-350E-9AA9-CAA4-B3C8A4BE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F8CBCA-F83C-3B7F-099F-DAA21447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3F147-DE2A-9131-CB9A-64A9AD3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7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2432-A462-34A1-E262-4E8D232B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7FC41-85EB-4B76-29A2-4B93550C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EE1EA-AB37-F8B3-003D-26356185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29E8B-5D02-88F5-587F-13FCA94B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8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86576-838E-C7D6-682B-5C66CE6D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EC23D-4436-B11D-DC32-CAF0A3BB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41789-7676-BD65-BE1F-A8F54B97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4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D2EE-38F0-92C7-B4C6-1407D355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47559-832D-F5B1-FB5C-998758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6224E-4028-8298-E2EA-629044263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144D1-2C06-DFCF-B0E3-475E2685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6F18F-AD1A-4C5B-A2C0-367AF848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0F8AD-9571-0F21-5D9E-F0B956AF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9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55E1-6D89-C403-0393-A675267D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AEFFF-C91F-3510-06D7-F2E6AF7D1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FC449-EA75-3C52-B7C4-03C268949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3DA49-908B-8C91-AC59-86998772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D5344-2D41-5CA3-3913-5DAC1BD3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1734-4395-C153-5FFF-2E62BAED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7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7298-1CF8-5A78-9F4D-30043A74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30058-B063-2C0A-23F8-F03651AEC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AC902-BEAD-7425-9F2E-4CE71F00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DCD83-7678-6A6B-B392-7AB56BD4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E106D-E184-923D-2EC6-E754024C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2E1F8-1ED7-1046-ABC5-E90F98B0D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A97F2-DB6A-B1A5-A7F5-9F5A87EC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349C7-2757-0ADB-E2BC-5A0A45FF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F1977-0AAE-E3E4-3417-6FF1A585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D8FA-EF38-F0F2-2553-5825025F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5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5E2687-2924-3BA1-3F98-CB01309C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2CAA9-535E-0C37-8364-82B1ECFEE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D9BB-F848-41CD-85E7-9C1E34481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4D2E-4D99-4697-A294-4A64860C3E80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B9C8F-EDE4-59A2-CBDB-7053EB1E8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D16B5-23EF-69BF-B0C2-F27597FEC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8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8297E"/>
            </a:gs>
            <a:gs pos="72000">
              <a:srgbClr val="080C39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AFC86D-8C72-BDA6-AA77-512F65F66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9427" y="1110528"/>
            <a:ext cx="8283428" cy="5753142"/>
          </a:xfrm>
          <a:custGeom>
            <a:avLst/>
            <a:gdLst>
              <a:gd name="connsiteX0" fmla="*/ 0 w 8283428"/>
              <a:gd name="connsiteY0" fmla="*/ 0 h 5753142"/>
              <a:gd name="connsiteX1" fmla="*/ 8283429 w 8283428"/>
              <a:gd name="connsiteY1" fmla="*/ 0 h 5753142"/>
              <a:gd name="connsiteX2" fmla="*/ 8283429 w 8283428"/>
              <a:gd name="connsiteY2" fmla="*/ 5753143 h 5753142"/>
              <a:gd name="connsiteX3" fmla="*/ 0 w 8283428"/>
              <a:gd name="connsiteY3" fmla="*/ 5753143 h 575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83428" h="5753142">
                <a:moveTo>
                  <a:pt x="0" y="0"/>
                </a:moveTo>
                <a:lnTo>
                  <a:pt x="8283429" y="0"/>
                </a:lnTo>
                <a:lnTo>
                  <a:pt x="8283429" y="5753143"/>
                </a:lnTo>
                <a:lnTo>
                  <a:pt x="0" y="5753143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9E644A-BAD0-C2F2-525A-11F9F4D0F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536" y="-54000"/>
            <a:ext cx="6171428" cy="6912000"/>
          </a:xfrm>
          <a:custGeom>
            <a:avLst/>
            <a:gdLst>
              <a:gd name="connsiteX0" fmla="*/ 0 w 6171428"/>
              <a:gd name="connsiteY0" fmla="*/ 0 h 6912000"/>
              <a:gd name="connsiteX1" fmla="*/ 6171429 w 6171428"/>
              <a:gd name="connsiteY1" fmla="*/ 0 h 6912000"/>
              <a:gd name="connsiteX2" fmla="*/ 6171429 w 6171428"/>
              <a:gd name="connsiteY2" fmla="*/ 6912000 h 6912000"/>
              <a:gd name="connsiteX3" fmla="*/ 0 w 6171428"/>
              <a:gd name="connsiteY3" fmla="*/ 6912000 h 69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1428" h="6912000">
                <a:moveTo>
                  <a:pt x="0" y="0"/>
                </a:moveTo>
                <a:lnTo>
                  <a:pt x="6171429" y="0"/>
                </a:lnTo>
                <a:lnTo>
                  <a:pt x="6171429" y="6912000"/>
                </a:lnTo>
                <a:lnTo>
                  <a:pt x="0" y="6912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621D5D3-CC9C-1C97-ECA6-3CE57A14A88C}"/>
              </a:ext>
            </a:extLst>
          </p:cNvPr>
          <p:cNvGrpSpPr/>
          <p:nvPr/>
        </p:nvGrpSpPr>
        <p:grpSpPr>
          <a:xfrm>
            <a:off x="512907" y="717348"/>
            <a:ext cx="11166186" cy="5423305"/>
            <a:chOff x="672695" y="806116"/>
            <a:chExt cx="11166186" cy="542330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A0BE804-CB7E-44A2-59DA-8D122404C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2695" y="806116"/>
              <a:ext cx="5423305" cy="5423305"/>
            </a:xfrm>
            <a:prstGeom prst="ellipse">
              <a:avLst/>
            </a:prstGeom>
            <a:effectLst>
              <a:outerShdw blurRad="215900" sx="102000" sy="102000" algn="ctr" rotWithShape="0">
                <a:prstClr val="black">
                  <a:alpha val="21000"/>
                </a:prstClr>
              </a:outerShdw>
            </a:effec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4FB181-E993-4356-3C89-7D20ACF1B29D}"/>
                </a:ext>
              </a:extLst>
            </p:cNvPr>
            <p:cNvSpPr txBox="1"/>
            <p:nvPr/>
          </p:nvSpPr>
          <p:spPr>
            <a:xfrm>
              <a:off x="6701084" y="1813204"/>
              <a:ext cx="5137797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8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73A9C84-F6AB-2A10-0C48-FB9DD5C53F7F}"/>
              </a:ext>
            </a:extLst>
          </p:cNvPr>
          <p:cNvSpPr txBox="1"/>
          <p:nvPr/>
        </p:nvSpPr>
        <p:spPr>
          <a:xfrm>
            <a:off x="7068167" y="2716826"/>
            <a:ext cx="51377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Risk Assessment &amp; Threat Intelligence Platform</a:t>
            </a:r>
            <a:endParaRPr lang="en-IN" sz="3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B3844-7CF4-1B39-38B3-A9BC7E977365}"/>
              </a:ext>
            </a:extLst>
          </p:cNvPr>
          <p:cNvSpPr txBox="1"/>
          <p:nvPr/>
        </p:nvSpPr>
        <p:spPr>
          <a:xfrm>
            <a:off x="9975273" y="6140653"/>
            <a:ext cx="246056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 Keerthi</a:t>
            </a:r>
          </a:p>
        </p:txBody>
      </p:sp>
    </p:spTree>
    <p:extLst>
      <p:ext uri="{BB962C8B-B14F-4D97-AF65-F5344CB8AC3E}">
        <p14:creationId xmlns:p14="http://schemas.microsoft.com/office/powerpoint/2010/main" val="352276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9D3FF6-D838-517E-2D1D-58EB85112E9E}"/>
              </a:ext>
            </a:extLst>
          </p:cNvPr>
          <p:cNvSpPr txBox="1"/>
          <p:nvPr/>
        </p:nvSpPr>
        <p:spPr>
          <a:xfrm>
            <a:off x="261257" y="669471"/>
            <a:ext cx="8948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15DEA-925F-825D-7D5D-DB4B1C425263}"/>
              </a:ext>
            </a:extLst>
          </p:cNvPr>
          <p:cNvSpPr txBox="1"/>
          <p:nvPr/>
        </p:nvSpPr>
        <p:spPr>
          <a:xfrm>
            <a:off x="734785" y="1517153"/>
            <a:ext cx="8001000" cy="667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Learnings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81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75E476B-1FB8-8397-CC11-F5065771C5E9}"/>
              </a:ext>
            </a:extLst>
          </p:cNvPr>
          <p:cNvGrpSpPr/>
          <p:nvPr/>
        </p:nvGrpSpPr>
        <p:grpSpPr>
          <a:xfrm>
            <a:off x="405204" y="615544"/>
            <a:ext cx="10954936" cy="6533155"/>
            <a:chOff x="601907" y="725155"/>
            <a:chExt cx="10954936" cy="6533155"/>
          </a:xfrm>
        </p:grpSpPr>
        <p:pic>
          <p:nvPicPr>
            <p:cNvPr id="5122" name="Picture 2" descr="Free vector abstract secure technology background with circuit">
              <a:extLst>
                <a:ext uri="{FF2B5EF4-FFF2-40B4-BE49-F238E27FC236}">
                  <a16:creationId xmlns:a16="http://schemas.microsoft.com/office/drawing/2014/main" id="{1E83C168-6AB2-0CB7-1F48-8BE1CDBDD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07" y="725155"/>
              <a:ext cx="4442013" cy="5605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814B557-B75B-AD69-699C-8803DC9AAAC3}"/>
                </a:ext>
              </a:extLst>
            </p:cNvPr>
            <p:cNvGrpSpPr/>
            <p:nvPr/>
          </p:nvGrpSpPr>
          <p:grpSpPr>
            <a:xfrm>
              <a:off x="5741460" y="969088"/>
              <a:ext cx="5815383" cy="6289222"/>
              <a:chOff x="5115680" y="337851"/>
              <a:chExt cx="5249557" cy="628922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CB54F0-9130-0BF4-217B-CFF1309DD81F}"/>
                  </a:ext>
                </a:extLst>
              </p:cNvPr>
              <p:cNvSpPr txBox="1"/>
              <p:nvPr/>
            </p:nvSpPr>
            <p:spPr>
              <a:xfrm>
                <a:off x="5292290" y="337851"/>
                <a:ext cx="444201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40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Statement</a:t>
                </a:r>
                <a:endParaRPr lang="en-US" sz="40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21B7DA-1AED-52F4-1A46-AE86E96B2246}"/>
                  </a:ext>
                </a:extLst>
              </p:cNvPr>
              <p:cNvSpPr txBox="1"/>
              <p:nvPr/>
            </p:nvSpPr>
            <p:spPr>
              <a:xfrm>
                <a:off x="5115680" y="691794"/>
                <a:ext cx="5249557" cy="59352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Organizations face increasing cyber threats daily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Manual vulnerability detection is time-consuming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Lack of real-time risk analysis tools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 for automated system to detect and analyze risks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centralized dashboard for security insights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89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3B999-D75B-B2F6-BEAC-C393C596E127}"/>
              </a:ext>
            </a:extLst>
          </p:cNvPr>
          <p:cNvSpPr/>
          <p:nvPr/>
        </p:nvSpPr>
        <p:spPr>
          <a:xfrm>
            <a:off x="0" y="1125416"/>
            <a:ext cx="6600093" cy="1395046"/>
          </a:xfrm>
          <a:prstGeom prst="rect">
            <a:avLst/>
          </a:prstGeom>
          <a:gradFill>
            <a:gsLst>
              <a:gs pos="0">
                <a:srgbClr val="41258C"/>
              </a:gs>
              <a:gs pos="75000">
                <a:srgbClr val="32017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Free photo happy woman hacker after cracking firewall of government and getting access granted. programmer writing a dangerous malware for cyber attacks using performance laptop during midnight.">
            <a:extLst>
              <a:ext uri="{FF2B5EF4-FFF2-40B4-BE49-F238E27FC236}">
                <a16:creationId xmlns:a16="http://schemas.microsoft.com/office/drawing/2014/main" id="{D20703B8-47DF-4B5C-D807-1527AD6A2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64" r="9085"/>
          <a:stretch/>
        </p:blipFill>
        <p:spPr bwMode="auto">
          <a:xfrm>
            <a:off x="9080624" y="799368"/>
            <a:ext cx="2881678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F870EF-C7DF-DAFE-E7AA-99F31E11D4B4}"/>
              </a:ext>
            </a:extLst>
          </p:cNvPr>
          <p:cNvSpPr txBox="1"/>
          <p:nvPr/>
        </p:nvSpPr>
        <p:spPr>
          <a:xfrm>
            <a:off x="668216" y="1499774"/>
            <a:ext cx="41382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3ABB7-9BAE-462F-4CE5-F1B95DD47D1A}"/>
              </a:ext>
            </a:extLst>
          </p:cNvPr>
          <p:cNvSpPr txBox="1"/>
          <p:nvPr/>
        </p:nvSpPr>
        <p:spPr>
          <a:xfrm>
            <a:off x="229698" y="2743199"/>
            <a:ext cx="7483708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automated port scanning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vulnerabilities in open ports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risk scores using CVSS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threat intelligence (</a:t>
            </a:r>
            <a:r>
              <a:rPr lang="en-IN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visual dashboard with analytics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downloadable reports</a:t>
            </a: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6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84FF24F-F737-BB40-1A28-55498C7C5E4B}"/>
              </a:ext>
            </a:extLst>
          </p:cNvPr>
          <p:cNvSpPr txBox="1"/>
          <p:nvPr/>
        </p:nvSpPr>
        <p:spPr>
          <a:xfrm>
            <a:off x="4256499" y="754992"/>
            <a:ext cx="48181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4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F80B6C-2C88-9477-905D-BF21DD1B44AB}"/>
              </a:ext>
            </a:extLst>
          </p:cNvPr>
          <p:cNvGrpSpPr/>
          <p:nvPr/>
        </p:nvGrpSpPr>
        <p:grpSpPr>
          <a:xfrm>
            <a:off x="582274" y="2039814"/>
            <a:ext cx="11115374" cy="4524623"/>
            <a:chOff x="582274" y="2039814"/>
            <a:chExt cx="11115374" cy="4524623"/>
          </a:xfrm>
        </p:grpSpPr>
        <p:pic>
          <p:nvPicPr>
            <p:cNvPr id="3074" name="Picture 2" descr="Free photo medium shot man holding device">
              <a:extLst>
                <a:ext uri="{FF2B5EF4-FFF2-40B4-BE49-F238E27FC236}">
                  <a16:creationId xmlns:a16="http://schemas.microsoft.com/office/drawing/2014/main" id="{8000DD95-5E76-F575-F509-53D57B6AFC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523"/>
            <a:stretch/>
          </p:blipFill>
          <p:spPr bwMode="auto">
            <a:xfrm>
              <a:off x="582274" y="2039814"/>
              <a:ext cx="5431664" cy="41840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3E60E3-BCF4-E79B-38C8-8D63695227A7}"/>
                </a:ext>
              </a:extLst>
            </p:cNvPr>
            <p:cNvSpPr txBox="1"/>
            <p:nvPr/>
          </p:nvSpPr>
          <p:spPr>
            <a:xfrm>
              <a:off x="6265984" y="2225429"/>
              <a:ext cx="5431664" cy="43390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a </a:t>
              </a:r>
              <a:r>
                <a:rPr lang="en-IN" sz="24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Flask-based web application</a:t>
              </a: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 </a:t>
              </a:r>
              <a:r>
                <a:rPr lang="en-IN" sz="24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Nmap</a:t>
              </a: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port scanning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Map ports to vulnerabilities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Calculate risk using scoring engine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Integrate </a:t>
              </a:r>
              <a:r>
                <a:rPr lang="en-IN" sz="2400" dirty="0" err="1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VirusTotal</a:t>
              </a: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API for threat data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Display results using charts &amp; dashboard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46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C6DFD-6014-D338-D6B7-2663D38B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yber risk intelligence project architecture">
            <a:extLst>
              <a:ext uri="{FF2B5EF4-FFF2-40B4-BE49-F238E27FC236}">
                <a16:creationId xmlns:a16="http://schemas.microsoft.com/office/drawing/2014/main" id="{E1C2951D-3330-F6E7-33BD-82C1727628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79175" y="312175"/>
            <a:ext cx="5692877" cy="569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10" descr="Cyber risk intelligence project architecture">
            <a:extLst>
              <a:ext uri="{FF2B5EF4-FFF2-40B4-BE49-F238E27FC236}">
                <a16:creationId xmlns:a16="http://schemas.microsoft.com/office/drawing/2014/main" id="{10D02F15-7CB3-F16D-2E14-7D18DA095B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0027" y="-2421193"/>
            <a:ext cx="7096432" cy="709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2" descr="Cyber risk intelligence project architecture">
            <a:extLst>
              <a:ext uri="{FF2B5EF4-FFF2-40B4-BE49-F238E27FC236}">
                <a16:creationId xmlns:a16="http://schemas.microsoft.com/office/drawing/2014/main" id="{A2840D61-99B2-88AA-ED07-80EC0DBB08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6994F-D304-4A82-C283-8FE35B5812AE}"/>
              </a:ext>
            </a:extLst>
          </p:cNvPr>
          <p:cNvSpPr txBox="1"/>
          <p:nvPr/>
        </p:nvSpPr>
        <p:spPr>
          <a:xfrm>
            <a:off x="3873732" y="351677"/>
            <a:ext cx="4696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56B1C2-9664-2D2B-16E4-5FEF7D5B6736}"/>
              </a:ext>
            </a:extLst>
          </p:cNvPr>
          <p:cNvSpPr txBox="1"/>
          <p:nvPr/>
        </p:nvSpPr>
        <p:spPr>
          <a:xfrm>
            <a:off x="6678451" y="1352424"/>
            <a:ext cx="493601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IP address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sent to Flask backend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 scanner scans open ports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scanner detects issues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engine calculates scores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SQLite database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displays results &amp; charts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 report generated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19771-C6FE-A390-62B4-5556B075B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57" y="1295601"/>
            <a:ext cx="5576208" cy="49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7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2DFC2-A001-B28A-8C76-B3106FD3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1BC6E8-372B-216B-EF46-A65DFA1957F3}"/>
              </a:ext>
            </a:extLst>
          </p:cNvPr>
          <p:cNvSpPr txBox="1"/>
          <p:nvPr/>
        </p:nvSpPr>
        <p:spPr>
          <a:xfrm>
            <a:off x="5437354" y="1632766"/>
            <a:ext cx="57921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+ Flask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SQLite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Chart.js, </a:t>
            </a:r>
            <a:r>
              <a:rPr lang="en-IN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Intelligence: </a:t>
            </a:r>
            <a:r>
              <a:rPr lang="en-IN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used: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 Scanner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Scanner 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Engine </a:t>
            </a:r>
          </a:p>
          <a:p>
            <a:endParaRPr lang="en-I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6" descr="Learn what you need to become a privacy and data protection expert for $20  | ZDNET">
            <a:extLst>
              <a:ext uri="{FF2B5EF4-FFF2-40B4-BE49-F238E27FC236}">
                <a16:creationId xmlns:a16="http://schemas.microsoft.com/office/drawing/2014/main" id="{F8C25A96-F886-49F7-66D4-929A6FCB8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291" y="2032876"/>
            <a:ext cx="3327508" cy="340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4FECC69-1599-0553-AE1D-9AC7581978F2}"/>
              </a:ext>
            </a:extLst>
          </p:cNvPr>
          <p:cNvSpPr txBox="1"/>
          <p:nvPr/>
        </p:nvSpPr>
        <p:spPr>
          <a:xfrm>
            <a:off x="3344505" y="393142"/>
            <a:ext cx="5606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</p:spTree>
    <p:extLst>
      <p:ext uri="{BB962C8B-B14F-4D97-AF65-F5344CB8AC3E}">
        <p14:creationId xmlns:p14="http://schemas.microsoft.com/office/powerpoint/2010/main" val="3227298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5C398E-B135-8E48-93C7-0D2E134194EA}"/>
              </a:ext>
            </a:extLst>
          </p:cNvPr>
          <p:cNvSpPr txBox="1"/>
          <p:nvPr/>
        </p:nvSpPr>
        <p:spPr>
          <a:xfrm>
            <a:off x="1114425" y="742950"/>
            <a:ext cx="4629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239649-1F12-5C31-56CF-4424F36AF1C5}"/>
              </a:ext>
            </a:extLst>
          </p:cNvPr>
          <p:cNvSpPr txBox="1"/>
          <p:nvPr/>
        </p:nvSpPr>
        <p:spPr>
          <a:xfrm>
            <a:off x="1592825" y="1700213"/>
            <a:ext cx="659252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detected open ports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vulnerabilities with risk scores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Displayed results in visual charts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accurate reports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system risks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6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8A2C0-ED36-643D-E8E3-51ED4A0B5EEE}"/>
              </a:ext>
            </a:extLst>
          </p:cNvPr>
          <p:cNvSpPr txBox="1"/>
          <p:nvPr/>
        </p:nvSpPr>
        <p:spPr>
          <a:xfrm>
            <a:off x="1032386" y="845964"/>
            <a:ext cx="66957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Learnings</a:t>
            </a:r>
            <a:b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6AA7E-29FB-08D7-ECEC-D4786EF248C1}"/>
              </a:ext>
            </a:extLst>
          </p:cNvPr>
          <p:cNvSpPr txBox="1"/>
          <p:nvPr/>
        </p:nvSpPr>
        <p:spPr>
          <a:xfrm>
            <a:off x="1474837" y="1720840"/>
            <a:ext cx="669576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Nmap with Python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API errors (</a:t>
            </a:r>
            <a:r>
              <a:rPr lang="en-IN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VirusTotal</a:t>
            </a: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database efficiently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dashboard UI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264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6505C3A-58CE-6EE9-630D-F901D0957896}"/>
              </a:ext>
            </a:extLst>
          </p:cNvPr>
          <p:cNvSpPr txBox="1"/>
          <p:nvPr/>
        </p:nvSpPr>
        <p:spPr>
          <a:xfrm>
            <a:off x="1592826" y="1076632"/>
            <a:ext cx="5692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2CF707-8ED2-B9B5-66AF-74AB0CBB1201}"/>
              </a:ext>
            </a:extLst>
          </p:cNvPr>
          <p:cNvSpPr txBox="1"/>
          <p:nvPr/>
        </p:nvSpPr>
        <p:spPr>
          <a:xfrm>
            <a:off x="2094270" y="1843548"/>
            <a:ext cx="6268065" cy="31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machine learning for risk prediction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continuous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(AWS/Heroku)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vulnerability database integration</a:t>
            </a:r>
          </a:p>
        </p:txBody>
      </p:sp>
    </p:spTree>
    <p:extLst>
      <p:ext uri="{BB962C8B-B14F-4D97-AF65-F5344CB8AC3E}">
        <p14:creationId xmlns:p14="http://schemas.microsoft.com/office/powerpoint/2010/main" val="3855163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840A06-AEF1-A6FF-0D32-2842B798A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031" y="451338"/>
            <a:ext cx="5265553" cy="595532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5A2BAF0-9EF1-DCF2-EED8-B79319C803BD}"/>
              </a:ext>
            </a:extLst>
          </p:cNvPr>
          <p:cNvGrpSpPr/>
          <p:nvPr/>
        </p:nvGrpSpPr>
        <p:grpSpPr>
          <a:xfrm>
            <a:off x="140677" y="1005335"/>
            <a:ext cx="6178064" cy="3996776"/>
            <a:chOff x="175872" y="1213084"/>
            <a:chExt cx="5006514" cy="39967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069D18-88E9-0F7C-3B65-ADA531C727CB}"/>
                </a:ext>
              </a:extLst>
            </p:cNvPr>
            <p:cNvSpPr txBox="1"/>
            <p:nvPr/>
          </p:nvSpPr>
          <p:spPr>
            <a:xfrm>
              <a:off x="224467" y="1213084"/>
              <a:ext cx="426704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i="0" dirty="0">
                  <a:solidFill>
                    <a:srgbClr val="ECECF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A6AD28-3AD7-D48A-CB3E-C20226AF173B}"/>
                </a:ext>
              </a:extLst>
            </p:cNvPr>
            <p:cNvSpPr txBox="1"/>
            <p:nvPr/>
          </p:nvSpPr>
          <p:spPr>
            <a:xfrm>
              <a:off x="175872" y="1859904"/>
              <a:ext cx="5006514" cy="3349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project successfully demonstrates a </a:t>
              </a:r>
              <a:r>
                <a:rPr 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complete cyber risk assessment system</a:t>
              </a:r>
              <a:r>
                <a:rPr lang="en-US" sz="2400" dirty="0">
                  <a:solidFill>
                    <a:schemeClr val="bg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combining scanning, analysis, and visualization. It simplifies security analysis and helps identify risks quickly. The platform can be extended into a full enterprise-level security tool.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7690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ED0E2A3-CEF9-A942-AB35-E5B71EC389E2}"/>
              </a:ext>
            </a:extLst>
          </p:cNvPr>
          <p:cNvSpPr txBox="1"/>
          <p:nvPr/>
        </p:nvSpPr>
        <p:spPr>
          <a:xfrm>
            <a:off x="2035277" y="1740310"/>
            <a:ext cx="83328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7615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9="http://schemas.microsoft.com/office/powerpoint/2015/09/main" xmlns:p15="http://schemas.microsoft.com/office/powerpoint/2012/main" xmlns:a14="http://schemas.microsoft.com/office/drawing/2010/main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47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080C39"/>
      </a:accent1>
      <a:accent2>
        <a:srgbClr val="18297E"/>
      </a:accent2>
      <a:accent3>
        <a:srgbClr val="41258C"/>
      </a:accent3>
      <a:accent4>
        <a:srgbClr val="320175"/>
      </a:accent4>
      <a:accent5>
        <a:srgbClr val="2993FF"/>
      </a:accent5>
      <a:accent6>
        <a:srgbClr val="7F739A"/>
      </a:accent6>
      <a:hlink>
        <a:srgbClr val="FFFFFF"/>
      </a:hlink>
      <a:folHlink>
        <a:srgbClr val="59595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313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swarnapuri keerthi</cp:lastModifiedBy>
  <cp:revision>8</cp:revision>
  <dcterms:created xsi:type="dcterms:W3CDTF">2023-06-08T10:24:05Z</dcterms:created>
  <dcterms:modified xsi:type="dcterms:W3CDTF">2026-03-28T21:33:55Z</dcterms:modified>
</cp:coreProperties>
</file>